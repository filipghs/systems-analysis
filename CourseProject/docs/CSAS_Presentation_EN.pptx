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would use app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353A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 incident
experience</c:v>
                  </c:pt>
                  <c:pt idx="1">
                    <c:v>Without incident
experience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0B4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0B4CC"/>
                </a:solidFill>
                <a:latin typeface="Arial"/>
              </a:rPr>
              <a:t>Latency by Scenario (target &lt; 30s)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Latency (s)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300% Surge</c:v>
                  </c:pt>
                  <c:pt idx="2">
                    <c:v>Push Failure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18.3</c:v>
                </c:pt>
                <c:pt idx="1">
                  <c:v>24.7</c:v>
                </c:pt>
                <c:pt idx="2">
                  <c:v>19.1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95th Pctile (s)</c:v>
                </c:pt>
              </c:strCache>
            </c:strRef>
          </c:tx>
          <c:spPr>
            <a:solidFill>
              <a:srgbClr val="F4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300% Surge</c:v>
                  </c:pt>
                  <c:pt idx="2">
                    <c:v>Push Failure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27.1</c:v>
                </c:pt>
                <c:pt idx="1">
                  <c:v>29.8</c:v>
                </c:pt>
                <c:pt idx="2">
                  <c:v>28.4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0B4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0B4CC"/>
                </a:solidFill>
                <a:latin typeface="Arial"/>
              </a:rPr>
              <a:t>Delivery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Rate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Surge</c:v>
                  </c:pt>
                  <c:pt idx="2">
                    <c:v>Push Failure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99.94</c:v>
                </c:pt>
                <c:pt idx="1">
                  <c:v>99.87</c:v>
                </c:pt>
                <c:pt idx="2">
                  <c:v>99.12</c:v>
                </c:pt>
                <c:pt idx="3">
                  <c:v>99.9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2"/>
          <c:min val="98.8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69748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4924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137160"/>
            <a:ext cx="1005840" cy="6400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40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Security Alert System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5943600" cy="36576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 Community Security Alert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Campus of Universidad Distrital Francisco José de Caldas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José Garzón  ·  Juan Esteban Quintero  ·  Henry Garrido  ·  Gabriel Cusba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— Semester 2026-I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Carlos Andrés Sierra, M.Sc.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4114800"/>
            <a:ext cx="1645920" cy="777240"/>
          </a:xfrm>
          <a:prstGeom prst="rect">
            <a:avLst/>
          </a:prstGeom>
          <a:solidFill>
            <a:srgbClr val="0353A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41148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Distrital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José de Caldas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Campus Security at Universidad Distrital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1554480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notification 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CSAS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788920"/>
            <a:ext cx="27432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4728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channels create friction: phone calls and walk-up reports are slow and avoided by witnesses.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2788920"/>
            <a:ext cx="2743200" cy="22860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344728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concentrate in specific zones (parking lot) during evening and night hours.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2788920"/>
            <a:ext cx="2743200" cy="22860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344728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SIURE UD operates via email/phone only. No mobile interface or real-time alerts.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6 Data Collection Methods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09728" cy="164592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security staff + 2 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05840"/>
            <a:ext cx="109728" cy="164592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students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100584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1005840"/>
            <a:ext cx="109728" cy="164592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4" name="Text 12"/>
          <p:cNvSpPr/>
          <p:nvPr/>
        </p:nvSpPr>
        <p:spPr>
          <a:xfrm>
            <a:off x="6208776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8776" y="1645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zones, 8 sessions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10972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incident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26080"/>
            <a:ext cx="109728" cy="164592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55848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existing platforms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2926080"/>
            <a:ext cx="2697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926080"/>
            <a:ext cx="109728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208776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Environment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Teusaquillo station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3 primary methods independently converged on the same 3 problems — this validates the evidence-based design.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use the app by incident experience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960120"/>
            <a:ext cx="4206240" cy="8686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960120"/>
            <a:ext cx="91440" cy="86868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005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97880" y="10332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reported witnessing or experiencing an incident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4206240" cy="8686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65960"/>
            <a:ext cx="9144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897880" y="20391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reported incidents occurred during afternoon or night hours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2971800"/>
            <a:ext cx="4206240" cy="8686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971800"/>
            <a:ext cx="91440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017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897880" y="30449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events appear in official campus records (under-reporting confirmed)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3977640"/>
            <a:ext cx="4206240" cy="8686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977640"/>
            <a:ext cx="91440" cy="86868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40233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897880" y="40507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sessions detected suspicious events — both in the parking lot at night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Model: Stakeholders &amp; Feedback Dynamics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91440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80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reporters and alert recipients. Friction is the dominant barrier to participation.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91440" cy="91440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Admin Staff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reporters; need passive campus-condition awareness without disruption.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11680"/>
            <a:ext cx="91440" cy="91440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Security 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323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core — needs location-specific, time-stamped alerts instead of verbal descriptions.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11680"/>
            <a:ext cx="91440" cy="91440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Authorities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4323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escalated incidents; integration must respect their existing response protocols.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91440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platform operations, accounts, and data retention.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91440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483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aggregate analytics to allocate resources and guide safety policy.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2062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Loop: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→ report density → utility → more adoption   |   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threshold: ~20–25% active users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F4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Loop: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→ ignored → reduced coverage → adoption collapse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Microservices with Asynchronous Event-Driven Design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50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  +  Admin Web Portal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59536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09928"/>
            <a:ext cx="640080" cy="68580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099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46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5740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(Node.js / Nginx) — Authentication, Rate Limiting, Routing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05456"/>
            <a:ext cx="640080" cy="68580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0545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microservices: Incident · Verification · Dispatcher · User · Analytics — RabbitMQ message broker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859536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00984"/>
            <a:ext cx="640080" cy="68580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0098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48456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(geospatial queries)  +  Redis cache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96512"/>
            <a:ext cx="640080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09651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443984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SIURE UD  ·  Local authorities  ·  Twilio SMS Gateway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Verification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1005840"/>
          </a:xfrm>
          <a:prstGeom prst="rect">
            <a:avLst/>
          </a:prstGeom>
          <a:solidFill>
            <a:srgbClr val="0353A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01368" y="1435608"/>
            <a:ext cx="420624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005840"/>
            <a:ext cx="1554480" cy="1005840"/>
          </a:xfrm>
          <a:prstGeom prst="rect">
            <a:avLst/>
          </a:prstGeom>
          <a:solidFill>
            <a:srgbClr val="006DA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84448" y="1435608"/>
            <a:ext cx="420624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1005840"/>
            <a:ext cx="1554480" cy="1005840"/>
          </a:xfrm>
          <a:prstGeom prst="rect">
            <a:avLst/>
          </a:prstGeom>
          <a:solidFill>
            <a:srgbClr val="F483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(µ = 5s)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435608"/>
            <a:ext cx="420624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1005840"/>
            <a:ext cx="1554480" cy="10058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1435608"/>
            <a:ext cx="420624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0920" y="1005840"/>
            <a:ext cx="1554480" cy="10058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0.7 → Auto-verified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0.4–0.7 → Human review queue (µ = 15s)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0.4 → Rejected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incident → Full bypass → Immediate security dispatch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868680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747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 — Quality Gate: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broadcast without at least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community confirmations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administrative approval.</a:t>
            </a:r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Simulation confirms: false alarm rate &lt; 5% with latency &lt; 30s.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2743200" cy="566928"/>
          </a:xfrm>
          <a:prstGeom prst="rect">
            <a:avLst/>
          </a:prstGeom>
          <a:solidFill>
            <a:srgbClr val="E2EAF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480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confirmation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false-alarm risk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27832" y="4480560"/>
            <a:ext cx="2743200" cy="566928"/>
          </a:xfrm>
          <a:prstGeom prst="rect">
            <a:avLst/>
          </a:prstGeom>
          <a:solidFill>
            <a:srgbClr val="006DA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9272" y="4480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confirmations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Selected — validated in simulation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4480560"/>
            <a:ext cx="2743200" cy="566928"/>
          </a:xfrm>
          <a:prstGeom prst="rect">
            <a:avLst/>
          </a:prstGeom>
          <a:solidFill>
            <a:srgbClr val="E2EAF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72784" y="4480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confirmations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 latency for fast-developing incidents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Functional &amp; Non-Functional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886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029200" cy="2743200"/>
        </p:xfrm>
        <a:graphic>
          <a:graphicData uri="http://schemas.openxmlformats.org/drawingml/2006/table">
            <a:tbl>
              <a:tblPr/>
              <a:tblGrid>
                <a:gridCol w="594360"/>
                <a:gridCol w="1920240"/>
                <a:gridCol w="25146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 (Workshop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incident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friction is the primary barrier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Geofenced alerts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concentration needs targeted alerts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plausibility scorer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records are fragmented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11.4-min phone/walk-up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confirmation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willingness-to-participate observed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FR06–10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GPS, log, SOS, heatmaps, media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observation &amp; survey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886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0" y="1188720"/>
            <a:ext cx="34290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5532120" y="11887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5508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&lt; 30s (95th pct.)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1527048"/>
            <a:ext cx="34290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532120" y="152704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55080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delivery rate &gt; 99.9%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1865376"/>
            <a:ext cx="34290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5532120" y="18653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186537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 99.9%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2203704"/>
            <a:ext cx="34290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220370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5080" y="220370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Ley 1581/2012 compliance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2542032"/>
            <a:ext cx="34290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5532120" y="25420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5080" y="25420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 surge capacity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2880360"/>
            <a:ext cx="34290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28803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0" y="28803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≤ 3 interactions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0" y="3218688"/>
            <a:ext cx="34290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321868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355080" y="321868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updatable microservices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0" y="3557016"/>
            <a:ext cx="34290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5532120" y="35570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55080" y="355701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without 2 confirmations or 1 approval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Architectural Alternatives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3657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Monolithic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lower initial complexity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Drawbacks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 verification independently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NFR-05 and NFR-07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23774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743200" cy="3657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960120"/>
            <a:ext cx="2743200" cy="365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SIURE UD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696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familiarity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political resistance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Drawbacks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Email/phone architecture requires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rebuild for real-time processing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SIURE UD's roadmap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4206240"/>
            <a:ext cx="2377440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ADOPTION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17336" y="960120"/>
            <a:ext cx="2743200" cy="3657600"/>
          </a:xfrm>
          <a:prstGeom prst="rect">
            <a:avLst/>
          </a:prstGeom>
          <a:solidFill>
            <a:srgbClr val="0A2E1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960120"/>
            <a:ext cx="27432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6117336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Microservices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27064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deployment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Drawbacks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27064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complexity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(orchestration, distributed tracing)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0216" y="4206240"/>
            <a:ext cx="23774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(ISO 31000) — Top 5 Risks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/>
              <a:tblGrid>
                <a:gridCol w="502920"/>
                <a:gridCol w="1920240"/>
                <a:gridCol w="685800"/>
                <a:gridCol w="777240"/>
                <a:gridCol w="470916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overload during campus emergency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auto-scaling + RabbitMQ priority queues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delivery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+ Push redundancy; dead-letter queue retry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report flood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verification + reputation scoring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1.3, AES-256 encryption, audit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adoption below critical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improvements; onboarding campaigns; institutional endorsement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Deployment:  Pilot (4 weeks, ~200 users)  →  Controlled Rollout (8 weeks, full campus)  →  Continuous Operation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Simulation — Python / SimPy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914400"/>
          <a:ext cx="3474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434840"/>
            <a:ext cx="2788920" cy="65836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760" y="4453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65760" y="47183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reports triggered redundant alerts → validated the co-location aggregation algorithm in the Dispatcher.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18688" y="4434840"/>
            <a:ext cx="2788920" cy="65836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10128" y="4453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Bottleneck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310128" y="47183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spikes + fewer moderators → verification latency exceeded 45s → motivated on-call escalation path.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163056" y="4434840"/>
            <a:ext cx="2788920" cy="65836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54496" y="4453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Adoption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254496" y="47183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user increase above the critical threshold produced a disproportionately large jump in report volume.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Comparative Table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645920"/>
                <a:gridCol w="1188720"/>
                <a:gridCol w="1188720"/>
                <a:gridCol w="5486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300% Surge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latency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pctile latency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/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fallback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353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Gap Analysis (Current State vs. Target)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2651760" cy="384048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663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time: 11.4 min → &lt; 5 min  (−6.4 min)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4663440"/>
            <a:ext cx="2651760" cy="384048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4663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rate: 41% → &gt; 85%  (+44 pp)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0" y="4663440"/>
            <a:ext cx="2651760" cy="384048"/>
          </a:xfrm>
          <a:prstGeom prst="rect">
            <a:avLst/>
          </a:prstGeom>
          <a:solidFill>
            <a:srgbClr val="021B4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4663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adoption: ~12% → ≥ 60%  (+48 pp)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Engineering: Standards &amp; Quality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9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987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corrective-action processes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91440" cy="118872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69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5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L3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987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Maturity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SDLC lifecycle, peer review gates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91440" cy="118872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95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requirements traceability matrix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91440" cy="118872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95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1633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7157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reliability prediction and failover testing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66160"/>
            <a:ext cx="91440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21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Quality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41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model evaluation across all attributes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66160"/>
            <a:ext cx="9144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621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31000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41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 management framework (probability–impact matrix)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Unintended Consequences &amp;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47548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16152"/>
            <a:ext cx="91440" cy="73152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Speed  vs.  Accuracy / Fewer False Alarms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2-confirmation threshold — calibrated compromise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7548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57400"/>
            <a:ext cx="91440" cy="73152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93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Complexity  vs.  Operational Overhead (monolith)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Microservices: better fault isolation under emergency surge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47548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98648"/>
            <a:ext cx="91440" cy="73152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35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(reduces friction)  vs.  Accountability (deters abuse)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64408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Rate limiting + reputation scoring: anonymity without full impunity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0" y="868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Unintended Consequences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216152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216152"/>
            <a:ext cx="9144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252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reports used to divert security resources. Mitigation: reputation scoring + rate limiting on anonymous reports.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20574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2057400"/>
            <a:ext cx="91440" cy="73152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093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Perception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may create a sense of institutional monitoring. Mitigation: data minimization, anonymous IDs, 12-month retention.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2898648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2898648"/>
            <a:ext cx="91440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2935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of Human Judgment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3218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AI scoring. Mitigation: human-in-the-loop review for all high-severity and low-confidence incidents.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n=20 survey (not generalizable) · Only 4 zones observed · Weather correlation = hypothesis (n=2 events) · Simulation does not guarantee production performance · No prototype built or tested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9436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7909560" cy="8229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960120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of 3 independent methods on the same 3 problems validates evidence-based design — every architectural decision traces back to an empirical finding.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594360" cy="822960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659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965960"/>
            <a:ext cx="7909560" cy="8229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965960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is the only approach that satisfies independent-scaling and fault-isolation requirements under emergency surge conditions (NFR-05, NFR-07).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594360" cy="822960"/>
          </a:xfrm>
          <a:prstGeom prst="rect">
            <a:avLst/>
          </a:prstGeom>
          <a:solidFill>
            <a:srgbClr val="006DA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9718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2971800"/>
            <a:ext cx="7909560" cy="8229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2971800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confirms the architecture meets latency &lt; 30s and delivery &gt; 99.9% under both baseline and 300% surge conditions, while revealing 3 emergent design improvements.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594360" cy="822960"/>
          </a:xfrm>
          <a:prstGeom prst="rect">
            <a:avLst/>
          </a:prstGeom>
          <a:solidFill>
            <a:srgbClr val="F4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9776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977640"/>
            <a:ext cx="7909560" cy="8229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977640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(critical threshold ~20–25% adoption) is not supplementary — it is a structural prerequisite for the reinforcing loop to activate.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21B4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survey to ≥ 200 stratified students  ·  Campus-wide WiFi/4G connectivity audit  ·  Data-processing agreements with SIURE UD &amp; university legal counsel (Ley 1581)  ·  Functional prototype for pilot testing  ·  ML scorer trained on real operational data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02870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8700"/>
            <a:ext cx="73152" cy="1028700"/>
          </a:xfrm>
          <a:prstGeom prst="rect">
            <a:avLst/>
          </a:prstGeom>
          <a:solidFill>
            <a:srgbClr val="00B4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57400"/>
            <a:ext cx="73152" cy="10287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086100"/>
            <a:ext cx="73152" cy="1028700"/>
          </a:xfrm>
          <a:prstGeom prst="rect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114800"/>
            <a:ext cx="73152" cy="102870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Security Alert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4572000" cy="36576"/>
          </a:xfrm>
          <a:prstGeom prst="rect">
            <a:avLst/>
          </a:prstGeom>
          <a:solidFill>
            <a:srgbClr val="0353A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protect  ·  Validated through simulation  ·  Ready for pilot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Garzón · Quintero · Garrido · Cusba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— 2026-I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Distrital Francisco José de Caldas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CSAS - Community Security Alert System</dc:title>
  <dc:subject>PptxGenJS Presentation</dc:subject>
  <dc:creator>PptxGenJS</dc:creator>
  <cp:lastModifiedBy>PptxGenJS</cp:lastModifiedBy>
  <cp:revision>1</cp:revision>
  <dcterms:created xsi:type="dcterms:W3CDTF">2026-06-05T19:15:17Z</dcterms:created>
  <dcterms:modified xsi:type="dcterms:W3CDTF">2026-06-05T19:15:17Z</dcterms:modified>
</cp:coreProperties>
</file>