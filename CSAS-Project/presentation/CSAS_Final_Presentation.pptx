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Students</c:v>
                </c:pt>
              </c:strCache>
            </c:strRef>
          </c:tx>
          <c:spPr>
            <a:solidFill>
              <a:srgbClr val="00B4D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Feel Unsafe</c:v>
                  </c:pt>
                  <c:pt idx="1">
                    <c:v>Experienced Incident</c:v>
                  </c:pt>
                  <c:pt idx="2">
                    <c:v>Would Use App</c:v>
                  </c:pt>
                  <c:pt idx="3">
                    <c:v>Would Use (if exp.)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35</c:v>
                </c:pt>
                <c:pt idx="1">
                  <c:v>35</c:v>
                </c:pt>
                <c:pt idx="2">
                  <c:v>75</c:v>
                </c:pt>
                <c:pt idx="3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b"/>
        <c:majorGridlines>
          <c:spPr>
            <a:ln w="6350" cap="flat">
              <a:solidFill>
                <a:srgbClr val="2A3A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62240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Current</c:v>
                </c:pt>
              </c:strCache>
            </c:strRef>
          </c:tx>
          <c:spPr>
            <a:solidFill>
              <a:srgbClr val="E639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Response Time (min)</c:v>
                  </c:pt>
                  <c:pt idx="1">
                    <c:v>Reporting Rate (%)</c:v>
                  </c:pt>
                  <c:pt idx="2">
                    <c:v>App Adoption (%)</c:v>
                  </c:pt>
                  <c:pt idx="3">
                    <c:v>Delivery Success (%)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11.4</c:v>
                </c:pt>
                <c:pt idx="1">
                  <c:v>41</c:v>
                </c:pt>
                <c:pt idx="2">
                  <c:v>12</c:v>
                </c:pt>
                <c:pt idx="3">
                  <c:v>87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Target</c:v>
                </c:pt>
              </c:strCache>
            </c:strRef>
          </c:tx>
          <c:spPr>
            <a:solidFill>
              <a:srgbClr val="22C55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Response Time (min)</c:v>
                  </c:pt>
                  <c:pt idx="1">
                    <c:v>Reporting Rate (%)</c:v>
                  </c:pt>
                  <c:pt idx="2">
                    <c:v>App Adoption (%)</c:v>
                  </c:pt>
                  <c:pt idx="3">
                    <c:v>Delivery Success (%)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</c:v>
                </c:pt>
                <c:pt idx="1">
                  <c:v>85</c:v>
                </c:pt>
                <c:pt idx="2">
                  <c:v>60</c:v>
                </c:pt>
                <c:pt idx="3">
                  <c:v>99.9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2A3A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94A3B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94A3B8"/>
              </a:solidFill>
            </a:defRPr>
          </a:pPr>
          <a:endParaRPr lang="en-US"/>
        </a:p>
      </c:txPr>
    </c:legend>
    <c:plotVisOnly val="1"/>
    <c:dispBlanksAs val="span"/>
  </c:chart>
  <c:spPr>
    <a:solidFill>
      <a:srgbClr val="162240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image" Target="../media/image-8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image" Target="../media/image-1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image" Target="../media/image-1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45720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46304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Community Security</a:t>
            </a:r>
            <a:endParaRPr lang="en-US" sz="40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Alert System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457200" y="28346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spc="1200" kern="0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CSAS</a:t>
            </a:r>
            <a:endParaRPr lang="en-US" sz="2800" dirty="0"/>
          </a:p>
        </p:txBody>
      </p:sp>
      <p:sp>
        <p:nvSpPr>
          <p:cNvPr id="7" name="Text 4"/>
          <p:cNvSpPr/>
          <p:nvPr/>
        </p:nvSpPr>
        <p:spPr>
          <a:xfrm>
            <a:off x="914400" y="33832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Smart Solution for Real-Time Incident Reporting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2286000" y="3977640"/>
            <a:ext cx="4572000" cy="9144"/>
          </a:xfrm>
          <a:prstGeom prst="rect">
            <a:avLst/>
          </a:prstGeom>
          <a:solidFill>
            <a:srgbClr val="00B4D8">
              <a:alpha val="50000"/>
            </a:srgbClr>
          </a:solidFill>
          <a:ln/>
        </p:spPr>
      </p:sp>
      <p:sp>
        <p:nvSpPr>
          <p:cNvPr id="9" name="Text 6"/>
          <p:cNvSpPr/>
          <p:nvPr/>
        </p:nvSpPr>
        <p:spPr>
          <a:xfrm>
            <a:off x="914400" y="41148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F. Garzon  •  J. Quintero  •  H. Garrido  •  G. Cusba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Systems Analysis &amp; Design — Semester 2026-I  |  Eng. Carlos Andrés Sierra, M.Sc.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Universidad Distrital Francisco José de Caldas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Agenda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8046720" cy="420624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5156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80160" y="105156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Context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931920" y="105156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security challenges at UDFJC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1545336"/>
            <a:ext cx="8046720" cy="420624"/>
          </a:xfrm>
          <a:prstGeom prst="rect">
            <a:avLst/>
          </a:prstGeom>
          <a:solidFill>
            <a:srgbClr val="111D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1545336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80160" y="154533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931920" y="1545336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Six-method data collection approach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2039112"/>
            <a:ext cx="8046720" cy="420624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039112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280160" y="203911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31920" y="203911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evidence from analysis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2532888"/>
            <a:ext cx="8046720" cy="420624"/>
          </a:xfrm>
          <a:prstGeom prst="rect">
            <a:avLst/>
          </a:prstGeom>
          <a:solidFill>
            <a:srgbClr val="111D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2532888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80160" y="2532888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931920" y="2532888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Microservices design &amp; verification pipeline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3026664"/>
            <a:ext cx="8046720" cy="420624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3026664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80160" y="3026664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&amp; KPIs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931920" y="3026664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Functional, non-functional &amp; metrics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3520440"/>
            <a:ext cx="8046720" cy="420624"/>
          </a:xfrm>
          <a:prstGeom prst="rect">
            <a:avLst/>
          </a:prstGeom>
          <a:solidFill>
            <a:srgbClr val="111D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" y="3520440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280160" y="3520440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Analysis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931920" y="3520440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vs. target performance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48640" y="4014216"/>
            <a:ext cx="8046720" cy="420624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640080" y="4014216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07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280160" y="4014216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&amp; Feedback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931920" y="4014216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Dynamics and mitigation strategies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4507992"/>
            <a:ext cx="8046720" cy="420624"/>
          </a:xfrm>
          <a:prstGeom prst="rect">
            <a:avLst/>
          </a:prstGeom>
          <a:solidFill>
            <a:srgbClr val="111D33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640080" y="4507992"/>
            <a:ext cx="548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1280160" y="4507992"/>
            <a:ext cx="25603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Next Steps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3931920" y="4507992"/>
            <a:ext cx="4572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findings and roadmap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Security at UDFJC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2606040" cy="237744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325880"/>
            <a:ext cx="2606040" cy="54864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08760" y="1554480"/>
            <a:ext cx="640080" cy="6400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800" y="22860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Under-Reporting Culture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731520" y="26974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High-friction channels (phone, walk-up) discourage incident reporting. Only 41% of events are formally recorded.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83280" y="1325880"/>
            <a:ext cx="2606040" cy="237744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83280" y="1325880"/>
            <a:ext cx="260604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0" y="1554480"/>
            <a:ext cx="640080" cy="6400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22860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 Response Times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566160" y="26974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11.4 minutes from incident to security notification. Critical for fast-developing emergencies.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217920" y="1325880"/>
            <a:ext cx="2606040" cy="237744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0" y="1325880"/>
            <a:ext cx="260604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1554480"/>
            <a:ext cx="640080" cy="6400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55080" y="228600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Tool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00800" y="269748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real-time digital platform exists. Staff rely on fragmented phone calls and WhatsApp groups.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" y="3931920"/>
            <a:ext cx="8046720" cy="100584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640080" y="39776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11.4</a:t>
            </a:r>
            <a:endParaRPr lang="en-US" sz="4800" dirty="0"/>
          </a:p>
        </p:txBody>
      </p:sp>
      <p:sp>
        <p:nvSpPr>
          <p:cNvPr id="22" name="Text 17"/>
          <p:cNvSpPr/>
          <p:nvPr/>
        </p:nvSpPr>
        <p:spPr>
          <a:xfrm>
            <a:off x="2286000" y="3977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minutes avg. response time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2286000" y="44348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incident occurrence to security team notification, measured across campus zones</a:t>
            </a:r>
            <a:endParaRPr lang="en-US" sz="1000" dirty="0"/>
          </a:p>
        </p:txBody>
      </p:sp>
      <p:sp>
        <p:nvSpPr>
          <p:cNvPr id="24" name="Text 19"/>
          <p:cNvSpPr/>
          <p:nvPr/>
        </p:nvSpPr>
        <p:spPr>
          <a:xfrm>
            <a:off x="6035040" y="397764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35%</a:t>
            </a:r>
            <a:endParaRPr lang="en-US" sz="3600" dirty="0"/>
          </a:p>
        </p:txBody>
      </p:sp>
      <p:sp>
        <p:nvSpPr>
          <p:cNvPr id="25" name="Text 20"/>
          <p:cNvSpPr/>
          <p:nvPr/>
        </p:nvSpPr>
        <p:spPr>
          <a:xfrm>
            <a:off x="7498080" y="4114800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students experienced incidents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Methodology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No. 1 — Mixed-Methods Data Collection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2606040" cy="169164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34440"/>
            <a:ext cx="54864" cy="169164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1732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371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Interviews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77240" y="19202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security + 2 admin staff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383280" y="1234440"/>
            <a:ext cx="2606040" cy="169164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383280" y="1234440"/>
            <a:ext cx="54864" cy="169164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417320"/>
            <a:ext cx="411480" cy="4114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114800" y="1371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Survey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3611880" y="19202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= 20 students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weeks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6217920" y="1234440"/>
            <a:ext cx="2606040" cy="169164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217920" y="1234440"/>
            <a:ext cx="54864" cy="169164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1417320"/>
            <a:ext cx="411480" cy="4114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949440" y="13716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Observation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46520" y="19202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zones, 8 sessions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548640" y="3108960"/>
            <a:ext cx="2606040" cy="169164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48640" y="3108960"/>
            <a:ext cx="54864" cy="1691640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3291840"/>
            <a:ext cx="411480" cy="41148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80160" y="3246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Analysis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777240" y="37947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records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days</a:t>
            </a:r>
            <a:endParaRPr lang="en-US" sz="1000" dirty="0"/>
          </a:p>
        </p:txBody>
      </p:sp>
      <p:sp>
        <p:nvSpPr>
          <p:cNvPr id="25" name="Shape 19"/>
          <p:cNvSpPr/>
          <p:nvPr/>
        </p:nvSpPr>
        <p:spPr>
          <a:xfrm>
            <a:off x="3383280" y="3108960"/>
            <a:ext cx="2606040" cy="169164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383280" y="3108960"/>
            <a:ext cx="54864" cy="169164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11880" y="3291840"/>
            <a:ext cx="411480" cy="41148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114800" y="3246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Benchmarking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3611880" y="37947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apps in Bogotá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6217920" y="3108960"/>
            <a:ext cx="2606040" cy="169164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217920" y="3108960"/>
            <a:ext cx="54864" cy="1691640"/>
          </a:xfrm>
          <a:prstGeom prst="rect">
            <a:avLst/>
          </a:prstGeom>
          <a:solidFill>
            <a:srgbClr val="94A3B8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46520" y="3291840"/>
            <a:ext cx="411480" cy="41148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949440" y="32461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Monitoring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6446520" y="379476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Teusaquillo locality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week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Findings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Convergence of Three Independent Methods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3840480" cy="173736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4173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3444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Under-Reporting Confirmed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77240" y="18745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Official records ≪ actual incidents (document analysis)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2 suspicious events observed, 0 reported by witnesses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</a:rPr>
              <a:t>100% of incident-experienced students would use the app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754880" y="1234440"/>
            <a:ext cx="3840480" cy="173736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41732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40680" y="1417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Night-Time Concentration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4983480" y="1874520"/>
            <a:ext cx="3383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All 7 reported incidents: afternoon/night hours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Parking lot at night: highest-risk zone
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3946"/>
                </a:solidFill>
              </a:rPr>
              <a:t>Poor lighting + low foot traffic = risk factors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48640" y="3154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 Results (n=20)</a:t>
            </a:r>
            <a:endParaRPr lang="en-US" sz="1300" dirty="0"/>
          </a:p>
        </p:txBody>
      </p:sp>
      <p:graphicFrame>
        <p:nvGraphicFramePr>
          <p:cNvPr id="14" name="Chart 0" descr=""/>
          <p:cNvGraphicFramePr/>
          <p:nvPr/>
        </p:nvGraphicFramePr>
        <p:xfrm>
          <a:off x="365760" y="3520440"/>
          <a:ext cx="4114800" cy="1463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5" name="Text 10"/>
          <p:cNvSpPr/>
          <p:nvPr/>
        </p:nvSpPr>
        <p:spPr>
          <a:xfrm>
            <a:off x="4754880" y="31546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Observation Summary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3566160"/>
          <a:ext cx="3840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005840"/>
                <a:gridCol w="11887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Zone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Entrance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AM/PM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Library Area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AM/PM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Parking Lot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Night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Dormitory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Benchmarking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CSAS vs. Existing Security Platforms in Bogotá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97280" y="1371600"/>
          <a:ext cx="694944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097280"/>
                <a:gridCol w="1097280"/>
                <a:gridCol w="1097280"/>
                <a:gridCol w="109728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Platform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Mobile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Real-Time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Institutional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Vigila App (Police)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WhatsApp Networks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SIURE UD (Internal)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E6394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B4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CSAS (Proposed)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05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1097280" y="3657600"/>
            <a:ext cx="54864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7" name="Text 4"/>
          <p:cNvSpPr/>
          <p:nvPr/>
        </p:nvSpPr>
        <p:spPr>
          <a:xfrm>
            <a:off x="1280160" y="36576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Vigila App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743200" y="365760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police integration valuable, but phone-call requirement is too slow for campus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1097280" y="4114800"/>
            <a:ext cx="54864" cy="384048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0" name="Text 7"/>
          <p:cNvSpPr/>
          <p:nvPr/>
        </p:nvSpPr>
        <p:spPr>
          <a:xfrm>
            <a:off x="1280160" y="41148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2743200" y="411480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adoption and immediacy, but zero verification generates panic and false alarms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1097280" y="4572000"/>
            <a:ext cx="54864" cy="3840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0"/>
          <p:cNvSpPr/>
          <p:nvPr/>
        </p:nvSpPr>
        <p:spPr>
          <a:xfrm>
            <a:off x="1280160" y="457200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SIURE UD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2743200" y="457200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familiarity exists — CSAS complements, not replaces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Five-Layer Microservices Architecture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8046720" cy="50292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34440"/>
            <a:ext cx="54864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234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Layer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00400" y="12344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Mobile App  •  Admin Web Portal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1874520"/>
            <a:ext cx="8046720" cy="50292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1874520"/>
            <a:ext cx="54864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Layer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200400" y="187452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 (Node.js / Nginx) — Auth, Rate Limiting, Routing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2514600"/>
            <a:ext cx="8046720" cy="109728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514600"/>
            <a:ext cx="54864" cy="109728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25146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Layer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794760"/>
            <a:ext cx="8046720" cy="50292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794760"/>
            <a:ext cx="54864" cy="5029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7947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200400" y="379476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PostGIS  •  RabbitMQ Message Broker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48640" y="4434840"/>
            <a:ext cx="8046720" cy="50292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4434840"/>
            <a:ext cx="54864" cy="50292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434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 Layer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200400" y="44348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SIURE UD  •  Local Authorities  •  Twilio SMS Gateway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14400" y="2743200"/>
            <a:ext cx="1371600" cy="777240"/>
          </a:xfrm>
          <a:prstGeom prst="rect">
            <a:avLst/>
          </a:prstGeom>
          <a:solidFill>
            <a:srgbClr val="1E33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7320" y="2788920"/>
            <a:ext cx="320040" cy="320040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960120" y="3108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800" dirty="0"/>
          </a:p>
        </p:txBody>
      </p:sp>
      <p:sp>
        <p:nvSpPr>
          <p:cNvPr id="27" name="Shape 24"/>
          <p:cNvSpPr/>
          <p:nvPr/>
        </p:nvSpPr>
        <p:spPr>
          <a:xfrm>
            <a:off x="2560320" y="2743200"/>
            <a:ext cx="1371600" cy="777240"/>
          </a:xfrm>
          <a:prstGeom prst="rect">
            <a:avLst/>
          </a:prstGeom>
          <a:solidFill>
            <a:srgbClr val="1E33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3240" y="2788920"/>
            <a:ext cx="320040" cy="32004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2606040" y="3108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800" dirty="0"/>
          </a:p>
        </p:txBody>
      </p:sp>
      <p:sp>
        <p:nvSpPr>
          <p:cNvPr id="30" name="Shape 26"/>
          <p:cNvSpPr/>
          <p:nvPr/>
        </p:nvSpPr>
        <p:spPr>
          <a:xfrm>
            <a:off x="4206240" y="2743200"/>
            <a:ext cx="1371600" cy="777240"/>
          </a:xfrm>
          <a:prstGeom prst="rect">
            <a:avLst/>
          </a:prstGeom>
          <a:solidFill>
            <a:srgbClr val="1E33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788920"/>
            <a:ext cx="320040" cy="32004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4251960" y="3108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800" dirty="0"/>
          </a:p>
        </p:txBody>
      </p:sp>
      <p:sp>
        <p:nvSpPr>
          <p:cNvPr id="33" name="Shape 28"/>
          <p:cNvSpPr/>
          <p:nvPr/>
        </p:nvSpPr>
        <p:spPr>
          <a:xfrm>
            <a:off x="5852160" y="2743200"/>
            <a:ext cx="1371600" cy="777240"/>
          </a:xfrm>
          <a:prstGeom prst="rect">
            <a:avLst/>
          </a:prstGeom>
          <a:solidFill>
            <a:srgbClr val="1E33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5080" y="2788920"/>
            <a:ext cx="320040" cy="320040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5897880" y="3108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800" dirty="0"/>
          </a:p>
        </p:txBody>
      </p:sp>
      <p:sp>
        <p:nvSpPr>
          <p:cNvPr id="36" name="Shape 30"/>
          <p:cNvSpPr/>
          <p:nvPr/>
        </p:nvSpPr>
        <p:spPr>
          <a:xfrm>
            <a:off x="7498080" y="2743200"/>
            <a:ext cx="1371600" cy="777240"/>
          </a:xfrm>
          <a:prstGeom prst="rect">
            <a:avLst/>
          </a:prstGeom>
          <a:solidFill>
            <a:srgbClr val="1E3355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2788920"/>
            <a:ext cx="320040" cy="32004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7543800" y="310896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Verification Pipeline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AI + Human — Balancing Speed vs. Signal Quality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1463040" cy="128016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371600"/>
            <a:ext cx="1463040" cy="54864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20040" y="19659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Submits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</a:t>
            </a:r>
            <a:endParaRPr lang="en-US" sz="9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10512" y="1783080"/>
            <a:ext cx="228600" cy="228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2103120" y="1371600"/>
            <a:ext cx="1463040" cy="128016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2103120" y="1371600"/>
            <a:ext cx="1463040" cy="54864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06040" y="1508760"/>
            <a:ext cx="411480" cy="41148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2148840" y="19659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Service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Data</a:t>
            </a:r>
            <a:endParaRPr lang="en-US" sz="9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9312" y="1783080"/>
            <a:ext cx="228600" cy="22860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3931920" y="1371600"/>
            <a:ext cx="1463040" cy="128016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0"/>
          <p:cNvSpPr/>
          <p:nvPr/>
        </p:nvSpPr>
        <p:spPr>
          <a:xfrm>
            <a:off x="3931920" y="1371600"/>
            <a:ext cx="1463040" cy="54864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4840" y="1508760"/>
            <a:ext cx="411480" cy="4114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3977640" y="19659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Plausibility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Scorer</a:t>
            </a:r>
            <a:endParaRPr lang="en-US" sz="900" dirty="0"/>
          </a:p>
        </p:txBody>
      </p:sp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68112" y="1783080"/>
            <a:ext cx="228600" cy="22860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5760720" y="1371600"/>
            <a:ext cx="1463040" cy="128016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3"/>
          <p:cNvSpPr/>
          <p:nvPr/>
        </p:nvSpPr>
        <p:spPr>
          <a:xfrm>
            <a:off x="5760720" y="1371600"/>
            <a:ext cx="1463040" cy="54864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3640" y="1508760"/>
            <a:ext cx="411480" cy="41148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5806440" y="19659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900" dirty="0"/>
          </a:p>
        </p:txBody>
      </p:sp>
      <p:pic>
        <p:nvPicPr>
          <p:cNvPr id="2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96912" y="1783080"/>
            <a:ext cx="228600" cy="228600"/>
          </a:xfrm>
          <a:prstGeom prst="rect">
            <a:avLst/>
          </a:prstGeom>
        </p:spPr>
      </p:pic>
      <p:sp>
        <p:nvSpPr>
          <p:cNvPr id="25" name="Shape 15"/>
          <p:cNvSpPr/>
          <p:nvPr/>
        </p:nvSpPr>
        <p:spPr>
          <a:xfrm>
            <a:off x="7589520" y="1371600"/>
            <a:ext cx="1463040" cy="128016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16"/>
          <p:cNvSpPr/>
          <p:nvPr/>
        </p:nvSpPr>
        <p:spPr>
          <a:xfrm>
            <a:off x="7589520" y="1371600"/>
            <a:ext cx="1463040" cy="54864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092440" y="1508760"/>
            <a:ext cx="411480" cy="411480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7635240" y="196596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Sends Alert</a:t>
            </a:r>
            <a:endParaRPr lang="en-US" sz="900" dirty="0"/>
          </a:p>
        </p:txBody>
      </p:sp>
      <p:sp>
        <p:nvSpPr>
          <p:cNvPr id="29" name="Shape 18"/>
          <p:cNvSpPr/>
          <p:nvPr/>
        </p:nvSpPr>
        <p:spPr>
          <a:xfrm>
            <a:off x="548640" y="2926080"/>
            <a:ext cx="8046720" cy="731520"/>
          </a:xfrm>
          <a:prstGeom prst="rect">
            <a:avLst/>
          </a:prstGeom>
          <a:solidFill>
            <a:srgbClr val="2A152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0" name="Shape 19"/>
          <p:cNvSpPr/>
          <p:nvPr/>
        </p:nvSpPr>
        <p:spPr>
          <a:xfrm>
            <a:off x="548640" y="2926080"/>
            <a:ext cx="54864" cy="731520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3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7240" y="3063240"/>
            <a:ext cx="365760" cy="365760"/>
          </a:xfrm>
          <a:prstGeom prst="rect">
            <a:avLst/>
          </a:prstGeom>
        </p:spPr>
      </p:pic>
      <p:sp>
        <p:nvSpPr>
          <p:cNvPr id="32" name="Text 20"/>
          <p:cNvSpPr/>
          <p:nvPr/>
        </p:nvSpPr>
        <p:spPr>
          <a:xfrm>
            <a:off x="1280160" y="29718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Bypass</a:t>
            </a:r>
            <a:endParaRPr lang="en-US" sz="1200" dirty="0"/>
          </a:p>
        </p:txBody>
      </p:sp>
      <p:sp>
        <p:nvSpPr>
          <p:cNvPr id="33" name="Text 21"/>
          <p:cNvSpPr/>
          <p:nvPr/>
        </p:nvSpPr>
        <p:spPr>
          <a:xfrm>
            <a:off x="1280160" y="329184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High-severity incidents (assault, medical emergency) skip AI scoring entirely and go directly to the security team.</a:t>
            </a:r>
            <a:endParaRPr lang="en-US" sz="1000" dirty="0"/>
          </a:p>
        </p:txBody>
      </p:sp>
      <p:sp>
        <p:nvSpPr>
          <p:cNvPr id="34" name="Shape 22"/>
          <p:cNvSpPr/>
          <p:nvPr/>
        </p:nvSpPr>
        <p:spPr>
          <a:xfrm>
            <a:off x="548640" y="3840480"/>
            <a:ext cx="3840480" cy="109728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Text 23"/>
          <p:cNvSpPr/>
          <p:nvPr/>
        </p:nvSpPr>
        <p:spPr>
          <a:xfrm>
            <a:off x="731520" y="3886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NFR-08: Quality Gate</a:t>
            </a:r>
            <a:endParaRPr lang="en-US" sz="1200" dirty="0"/>
          </a:p>
        </p:txBody>
      </p:sp>
      <p:sp>
        <p:nvSpPr>
          <p:cNvPr id="36" name="Text 24"/>
          <p:cNvSpPr/>
          <p:nvPr/>
        </p:nvSpPr>
        <p:spPr>
          <a:xfrm>
            <a:off x="731520" y="42062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alert broadcasts without: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≥2 community confirmations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1 administrative approval</a:t>
            </a:r>
            <a:endParaRPr lang="en-US" sz="1000" dirty="0"/>
          </a:p>
        </p:txBody>
      </p:sp>
      <p:sp>
        <p:nvSpPr>
          <p:cNvPr id="37" name="Shape 25"/>
          <p:cNvSpPr/>
          <p:nvPr/>
        </p:nvSpPr>
        <p:spPr>
          <a:xfrm>
            <a:off x="4754880" y="3840480"/>
            <a:ext cx="3840480" cy="109728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Text 26"/>
          <p:cNvSpPr/>
          <p:nvPr/>
        </p:nvSpPr>
        <p:spPr>
          <a:xfrm>
            <a:off x="4937760" y="388620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Fatigue Prevention</a:t>
            </a:r>
            <a:endParaRPr lang="en-US" sz="1200" dirty="0"/>
          </a:p>
        </p:txBody>
      </p:sp>
      <p:sp>
        <p:nvSpPr>
          <p:cNvPr id="39" name="Text 27"/>
          <p:cNvSpPr/>
          <p:nvPr/>
        </p:nvSpPr>
        <p:spPr>
          <a:xfrm>
            <a:off x="4937760" y="4206240"/>
            <a:ext cx="3474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Progressive reduction of non-critical notifications for users with high dismissal rates. Quality filters block low-confidence reports.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Technology Stack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2606040" cy="118872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4300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97280" y="10972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1097280" y="13258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React Native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85800" y="1645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codebase iOS/Android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383280" y="1005840"/>
            <a:ext cx="2606040" cy="118872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14300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931920" y="10972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3931920" y="13258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Node.js / Nginx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520440" y="1645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I/O, auth &amp; routing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6217920" y="1005840"/>
            <a:ext cx="2606040" cy="118872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14300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766560" y="10972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6766560" y="13258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Node.js</a:t>
            </a:r>
            <a:endParaRPr lang="en-US" sz="1200" dirty="0"/>
          </a:p>
        </p:txBody>
      </p:sp>
      <p:sp>
        <p:nvSpPr>
          <p:cNvPr id="18" name="Text 13"/>
          <p:cNvSpPr/>
          <p:nvPr/>
        </p:nvSpPr>
        <p:spPr>
          <a:xfrm>
            <a:off x="6355080" y="16459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event-driven for &lt;30s latency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548640" y="2377440"/>
            <a:ext cx="2606040" cy="118872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51460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97280" y="24688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</a:t>
            </a:r>
            <a:endParaRPr lang="en-US" sz="1000" dirty="0"/>
          </a:p>
        </p:txBody>
      </p:sp>
      <p:sp>
        <p:nvSpPr>
          <p:cNvPr id="22" name="Text 16"/>
          <p:cNvSpPr/>
          <p:nvPr/>
        </p:nvSpPr>
        <p:spPr>
          <a:xfrm>
            <a:off x="1097280" y="26974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Python / FastAPI</a:t>
            </a:r>
            <a:endParaRPr lang="en-US" sz="1200" dirty="0"/>
          </a:p>
        </p:txBody>
      </p:sp>
      <p:sp>
        <p:nvSpPr>
          <p:cNvPr id="23" name="Text 17"/>
          <p:cNvSpPr/>
          <p:nvPr/>
        </p:nvSpPr>
        <p:spPr>
          <a:xfrm>
            <a:off x="68580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ecosystem + async API</a:t>
            </a:r>
            <a:endParaRPr lang="en-US" sz="900" dirty="0"/>
          </a:p>
        </p:txBody>
      </p:sp>
      <p:sp>
        <p:nvSpPr>
          <p:cNvPr id="24" name="Shape 18"/>
          <p:cNvSpPr/>
          <p:nvPr/>
        </p:nvSpPr>
        <p:spPr>
          <a:xfrm>
            <a:off x="3383280" y="2377440"/>
            <a:ext cx="2606040" cy="118872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20440" y="2514600"/>
            <a:ext cx="320040" cy="32004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3931920" y="24688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 Broker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3931920" y="26974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RabbitMQ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352044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queues, decoupling</a:t>
            </a:r>
            <a:endParaRPr lang="en-US" sz="900" dirty="0"/>
          </a:p>
        </p:txBody>
      </p:sp>
      <p:sp>
        <p:nvSpPr>
          <p:cNvPr id="29" name="Shape 22"/>
          <p:cNvSpPr/>
          <p:nvPr/>
        </p:nvSpPr>
        <p:spPr>
          <a:xfrm>
            <a:off x="6217920" y="2377440"/>
            <a:ext cx="2606040" cy="118872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55080" y="2514600"/>
            <a:ext cx="320040" cy="32004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6766560" y="24688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000" dirty="0"/>
          </a:p>
        </p:txBody>
      </p:sp>
      <p:sp>
        <p:nvSpPr>
          <p:cNvPr id="32" name="Text 24"/>
          <p:cNvSpPr/>
          <p:nvPr/>
        </p:nvSpPr>
        <p:spPr>
          <a:xfrm>
            <a:off x="6766560" y="26974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PostgreSQL + PostGIS</a:t>
            </a:r>
            <a:endParaRPr lang="en-US" sz="1200" dirty="0"/>
          </a:p>
        </p:txBody>
      </p:sp>
      <p:sp>
        <p:nvSpPr>
          <p:cNvPr id="33" name="Text 25"/>
          <p:cNvSpPr/>
          <p:nvPr/>
        </p:nvSpPr>
        <p:spPr>
          <a:xfrm>
            <a:off x="6355080" y="30175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Geospatial queries &amp; heatmaps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548640" y="3749040"/>
            <a:ext cx="2606040" cy="118872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3886200"/>
            <a:ext cx="320040" cy="32004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097280" y="38404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Notif.</a:t>
            </a:r>
            <a:endParaRPr lang="en-US" sz="1000" dirty="0"/>
          </a:p>
        </p:txBody>
      </p:sp>
      <p:sp>
        <p:nvSpPr>
          <p:cNvPr id="37" name="Text 28"/>
          <p:cNvSpPr/>
          <p:nvPr/>
        </p:nvSpPr>
        <p:spPr>
          <a:xfrm>
            <a:off x="1097280" y="40690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Firebase FCM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685800" y="43891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Cross-platform, 99.9% target</a:t>
            </a:r>
            <a:endParaRPr lang="en-US" sz="900" dirty="0"/>
          </a:p>
        </p:txBody>
      </p:sp>
      <p:sp>
        <p:nvSpPr>
          <p:cNvPr id="39" name="Shape 30"/>
          <p:cNvSpPr/>
          <p:nvPr/>
        </p:nvSpPr>
        <p:spPr>
          <a:xfrm>
            <a:off x="3383280" y="3749040"/>
            <a:ext cx="2606040" cy="118872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520440" y="3886200"/>
            <a:ext cx="320040" cy="32004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3931920" y="38404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Fallback</a:t>
            </a:r>
            <a:endParaRPr lang="en-US" sz="1000" dirty="0"/>
          </a:p>
        </p:txBody>
      </p:sp>
      <p:sp>
        <p:nvSpPr>
          <p:cNvPr id="42" name="Text 32"/>
          <p:cNvSpPr/>
          <p:nvPr/>
        </p:nvSpPr>
        <p:spPr>
          <a:xfrm>
            <a:off x="3931920" y="40690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Twilio API</a:t>
            </a:r>
            <a:endParaRPr lang="en-US" sz="1200" dirty="0"/>
          </a:p>
        </p:txBody>
      </p:sp>
      <p:sp>
        <p:nvSpPr>
          <p:cNvPr id="43" name="Text 33"/>
          <p:cNvSpPr/>
          <p:nvPr/>
        </p:nvSpPr>
        <p:spPr>
          <a:xfrm>
            <a:off x="3520440" y="43891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of access guarantee</a:t>
            </a:r>
            <a:endParaRPr lang="en-US" sz="900" dirty="0"/>
          </a:p>
        </p:txBody>
      </p:sp>
      <p:sp>
        <p:nvSpPr>
          <p:cNvPr id="44" name="Shape 34"/>
          <p:cNvSpPr/>
          <p:nvPr/>
        </p:nvSpPr>
        <p:spPr>
          <a:xfrm>
            <a:off x="6217920" y="3749040"/>
            <a:ext cx="2606040" cy="118872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55080" y="3886200"/>
            <a:ext cx="320040" cy="320040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6766560" y="38404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000" dirty="0"/>
          </a:p>
        </p:txBody>
      </p:sp>
      <p:sp>
        <p:nvSpPr>
          <p:cNvPr id="47" name="Text 36"/>
          <p:cNvSpPr/>
          <p:nvPr/>
        </p:nvSpPr>
        <p:spPr>
          <a:xfrm>
            <a:off x="6766560" y="406908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AWS/Azure (K8s)</a:t>
            </a:r>
            <a:endParaRPr lang="en-US" sz="1200" dirty="0"/>
          </a:p>
        </p:txBody>
      </p:sp>
      <p:sp>
        <p:nvSpPr>
          <p:cNvPr id="48" name="Text 37"/>
          <p:cNvSpPr/>
          <p:nvPr/>
        </p:nvSpPr>
        <p:spPr>
          <a:xfrm>
            <a:off x="6355080" y="438912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Per-service auto-scaling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Requirements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Requirements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325880"/>
            <a:ext cx="4114800" cy="301752"/>
          </a:xfrm>
          <a:prstGeom prst="rect">
            <a:avLst/>
          </a:prstGeom>
          <a:solidFill>
            <a:srgbClr val="162240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32588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FR-01: GPS incident reporting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48640" y="1673352"/>
            <a:ext cx="4114800" cy="301752"/>
          </a:xfrm>
          <a:prstGeom prst="rect">
            <a:avLst/>
          </a:prstGeom>
          <a:solidFill>
            <a:srgbClr val="111D33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673352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FR-02: Geofenced alerts (500m)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548640" y="2020824"/>
            <a:ext cx="4114800" cy="301752"/>
          </a:xfrm>
          <a:prstGeom prst="rect">
            <a:avLst/>
          </a:prstGeom>
          <a:solidFill>
            <a:srgbClr val="162240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02082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FR-03: AI plausibility scorer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2368296"/>
            <a:ext cx="4114800" cy="301752"/>
          </a:xfrm>
          <a:prstGeom prst="rect">
            <a:avLst/>
          </a:prstGeom>
          <a:solidFill>
            <a:srgbClr val="111D33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236829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FR-04: Admin dashboard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715768"/>
            <a:ext cx="4114800" cy="301752"/>
          </a:xfrm>
          <a:prstGeom prst="rect">
            <a:avLst/>
          </a:prstGeom>
          <a:solidFill>
            <a:srgbClr val="162240"/>
          </a:solidFill>
          <a:ln/>
        </p:spPr>
      </p:sp>
      <p:sp>
        <p:nvSpPr>
          <p:cNvPr id="14" name="Text 12"/>
          <p:cNvSpPr/>
          <p:nvPr/>
        </p:nvSpPr>
        <p:spPr>
          <a:xfrm>
            <a:off x="685800" y="271576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FR-05: Crowd-sourced confirmation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" y="3063240"/>
            <a:ext cx="4114800" cy="301752"/>
          </a:xfrm>
          <a:prstGeom prst="rect">
            <a:avLst/>
          </a:prstGeom>
          <a:solidFill>
            <a:srgbClr val="111D33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063240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FR-06: Automatic GPS capture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3410712"/>
            <a:ext cx="4114800" cy="301752"/>
          </a:xfrm>
          <a:prstGeom prst="rect">
            <a:avLst/>
          </a:prstGeom>
          <a:solidFill>
            <a:srgbClr val="162240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410712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FR-07: Persistent incident log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" y="3758184"/>
            <a:ext cx="4114800" cy="301752"/>
          </a:xfrm>
          <a:prstGeom prst="rect">
            <a:avLst/>
          </a:prstGeom>
          <a:solidFill>
            <a:srgbClr val="111D33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3758184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FR-08: One-touch SOS button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48640" y="4105656"/>
            <a:ext cx="4114800" cy="301752"/>
          </a:xfrm>
          <a:prstGeom prst="rect">
            <a:avLst/>
          </a:prstGeom>
          <a:solidFill>
            <a:srgbClr val="162240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105656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FR-09: Security heatmaps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4453128"/>
            <a:ext cx="4114800" cy="301752"/>
          </a:xfrm>
          <a:prstGeom prst="rect">
            <a:avLst/>
          </a:prstGeom>
          <a:solidFill>
            <a:srgbClr val="111D33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4453128"/>
            <a:ext cx="3840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FR-10: Image/video attachments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54880" y="9144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Non-Functional Requirements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4754880" y="1325880"/>
            <a:ext cx="3840480" cy="36576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1325880"/>
            <a:ext cx="54864" cy="3657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132588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NFR-01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76072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Latency &lt; 30s (95%)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54880" y="1755648"/>
            <a:ext cx="3840480" cy="36576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754880" y="1755648"/>
            <a:ext cx="54864" cy="3657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2" name="Text 30"/>
          <p:cNvSpPr/>
          <p:nvPr/>
        </p:nvSpPr>
        <p:spPr>
          <a:xfrm>
            <a:off x="4937760" y="175564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5760720" y="175564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&gt; 99.9%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185416"/>
            <a:ext cx="3840480" cy="36576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185416"/>
            <a:ext cx="54864" cy="3657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6" name="Text 34"/>
          <p:cNvSpPr/>
          <p:nvPr/>
        </p:nvSpPr>
        <p:spPr>
          <a:xfrm>
            <a:off x="4937760" y="218541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760720" y="218541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Uptime ≥ 99.9%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4754880" y="2615184"/>
            <a:ext cx="3840480" cy="36576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4754880" y="2615184"/>
            <a:ext cx="54864" cy="3657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0" name="Text 38"/>
          <p:cNvSpPr/>
          <p:nvPr/>
        </p:nvSpPr>
        <p:spPr>
          <a:xfrm>
            <a:off x="4937760" y="2615184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5760720" y="2615184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TLS 1.3, Ley 1581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754880" y="3044952"/>
            <a:ext cx="3840480" cy="36576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54880" y="3044952"/>
            <a:ext cx="54864" cy="3657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4" name="Text 42"/>
          <p:cNvSpPr/>
          <p:nvPr/>
        </p:nvSpPr>
        <p:spPr>
          <a:xfrm>
            <a:off x="4937760" y="3044952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NFR-05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5760720" y="30449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300% surge capacity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54880" y="3474720"/>
            <a:ext cx="3840480" cy="36576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4754880" y="3474720"/>
            <a:ext cx="54864" cy="3657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48" name="Text 46"/>
          <p:cNvSpPr/>
          <p:nvPr/>
        </p:nvSpPr>
        <p:spPr>
          <a:xfrm>
            <a:off x="4937760" y="3474720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NFR-06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760720" y="3474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3 interactions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4754880" y="3904488"/>
            <a:ext cx="3840480" cy="36576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754880" y="3904488"/>
            <a:ext cx="54864" cy="3657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2" name="Text 50"/>
          <p:cNvSpPr/>
          <p:nvPr/>
        </p:nvSpPr>
        <p:spPr>
          <a:xfrm>
            <a:off x="4937760" y="3904488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NFR-07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760720" y="3904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updates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754880" y="4334256"/>
            <a:ext cx="3840480" cy="36576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754880" y="4334256"/>
            <a:ext cx="54864" cy="36576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56" name="Text 54"/>
          <p:cNvSpPr/>
          <p:nvPr/>
        </p:nvSpPr>
        <p:spPr>
          <a:xfrm>
            <a:off x="4937760" y="4334256"/>
            <a:ext cx="822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NFR-08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760720" y="433425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2 confirmations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Operational Gap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 vs. CSAS Design Targets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234440"/>
          <a:ext cx="8412480" cy="2560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023360"/>
            <a:ext cx="1920240" cy="96012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548640" y="4023360"/>
            <a:ext cx="192024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40965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Time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40080" y="4343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−6.4 min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640080" y="468172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11.4 min → &lt; 5 min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2697480" y="4023360"/>
            <a:ext cx="1920240" cy="96012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697480" y="4023360"/>
            <a:ext cx="192024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3" name="Text 10"/>
          <p:cNvSpPr/>
          <p:nvPr/>
        </p:nvSpPr>
        <p:spPr>
          <a:xfrm>
            <a:off x="2788920" y="40965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Rate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2788920" y="4343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+44 pp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2788920" y="468172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41% → &gt; 85%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4846320" y="4023360"/>
            <a:ext cx="1920240" cy="96012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4846320" y="4023360"/>
            <a:ext cx="192024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5"/>
          <p:cNvSpPr/>
          <p:nvPr/>
        </p:nvSpPr>
        <p:spPr>
          <a:xfrm>
            <a:off x="4937760" y="40965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Adoption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4937760" y="4343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+48 pp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4937760" y="468172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~12% → ≥ 60%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995160" y="4023360"/>
            <a:ext cx="1920240" cy="96012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6995160" y="4023360"/>
            <a:ext cx="192024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0"/>
          <p:cNvSpPr/>
          <p:nvPr/>
        </p:nvSpPr>
        <p:spPr>
          <a:xfrm>
            <a:off x="7086600" y="4096512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086600" y="434340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+12.9 pp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7086600" y="4681728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~87% → &gt; 99.9%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Performance Indicators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804672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1371600"/>
                <a:gridCol w="2286000"/>
                <a:gridCol w="13716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KPI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Latency (end-to-end)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30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 logs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Notification Delivery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99.9%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FCM/Twilio receipts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System Availability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99.9%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Uptime monitoring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Continuous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Incident Recording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85%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Cross-ref staff records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Community Adoption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60%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MAU analytics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Verification Latency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60 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Broker timestamps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Alert Accuracy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5% false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Post-incident review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24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1F5F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 Submission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C55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≤ 2 min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UAT session logs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94A3B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UAT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A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D3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Feedback Dynamics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Reinforcing and Balancing Loops (Meadows, 2008)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3840480" cy="256032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80160"/>
            <a:ext cx="384048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  Reinforcing Loop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82880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More users report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More alerts generated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Alerts become more useful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More users join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2C55E"/>
                </a:solidFill>
              </a:rPr>
              <a:t>→ More reporting (cycle repeats)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Critical threshold: ~20-25%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of campus population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1280160"/>
            <a:ext cx="3840480" cy="256032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280160"/>
            <a:ext cx="384048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4173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  Balancing Loop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937760" y="182880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Too many alerts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Alert fatigue sets in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→ Users start ignoring alerts
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63946"/>
                </a:solidFill>
              </a:rPr>
              <a:t>→ Engagement drops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</a:rPr>
              <a:t>Mitigation mechanisms: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Progressive notification dampening
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Quality filters at verification stage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069080"/>
            <a:ext cx="8046720" cy="868680"/>
          </a:xfrm>
          <a:prstGeom prst="rect">
            <a:avLst/>
          </a:prstGeom>
          <a:solidFill>
            <a:srgbClr val="1A28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4206240"/>
            <a:ext cx="457200" cy="45720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325880" y="4114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Insight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325880" y="44348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 engagement is not a nice-to-have — it is a structural prerequisite. Below the 20-25% threshold, the system depends entirely on security staff to feed the verification pipeline.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Implementation Roadmap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97280"/>
            <a:ext cx="1965960" cy="320040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97280"/>
            <a:ext cx="196596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Shape 4"/>
          <p:cNvSpPr/>
          <p:nvPr/>
        </p:nvSpPr>
        <p:spPr>
          <a:xfrm>
            <a:off x="1097280" y="1325880"/>
            <a:ext cx="640080" cy="6400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109728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548640" y="21031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48640" y="2651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301752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Finalize architecture, validate requirements, establish dev environment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880" y="2286000"/>
            <a:ext cx="182880" cy="18288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651760" y="1097280"/>
            <a:ext cx="1965960" cy="320040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651760" y="1097280"/>
            <a:ext cx="19659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Shape 11"/>
          <p:cNvSpPr/>
          <p:nvPr/>
        </p:nvSpPr>
        <p:spPr>
          <a:xfrm>
            <a:off x="3291840" y="1325880"/>
            <a:ext cx="640080" cy="64008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329184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2743200" y="21031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743200" y="2651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788920" y="301752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frontend (React Native), backend (Node.js, Python), DB, messaging</a:t>
            </a:r>
            <a:endParaRPr lang="en-US" sz="900" dirty="0"/>
          </a:p>
        </p:txBody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286000"/>
            <a:ext cx="182880" cy="182880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4846320" y="1097280"/>
            <a:ext cx="1965960" cy="320040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4846320" y="1097280"/>
            <a:ext cx="19659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Shape 18"/>
          <p:cNvSpPr/>
          <p:nvPr/>
        </p:nvSpPr>
        <p:spPr>
          <a:xfrm>
            <a:off x="5486400" y="1325880"/>
            <a:ext cx="640080" cy="64008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23" name="Text 19"/>
          <p:cNvSpPr/>
          <p:nvPr/>
        </p:nvSpPr>
        <p:spPr>
          <a:xfrm>
            <a:off x="548640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200" dirty="0"/>
          </a:p>
        </p:txBody>
      </p:sp>
      <p:sp>
        <p:nvSpPr>
          <p:cNvPr id="24" name="Text 20"/>
          <p:cNvSpPr/>
          <p:nvPr/>
        </p:nvSpPr>
        <p:spPr>
          <a:xfrm>
            <a:off x="4937760" y="21031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4937760" y="2651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</a:t>
            </a:r>
            <a:endParaRPr lang="en-US" sz="1000" dirty="0"/>
          </a:p>
        </p:txBody>
      </p:sp>
      <p:sp>
        <p:nvSpPr>
          <p:cNvPr id="26" name="Text 22"/>
          <p:cNvSpPr/>
          <p:nvPr/>
        </p:nvSpPr>
        <p:spPr>
          <a:xfrm>
            <a:off x="4983480" y="301752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Unit, integration, load testing. UAT with 50 students + 5 security staff</a:t>
            </a:r>
            <a:endParaRPr lang="en-US" sz="9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286000"/>
            <a:ext cx="182880" cy="182880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7040880" y="1097280"/>
            <a:ext cx="1965960" cy="320040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7040880" y="1097280"/>
            <a:ext cx="196596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0" name="Shape 25"/>
          <p:cNvSpPr/>
          <p:nvPr/>
        </p:nvSpPr>
        <p:spPr>
          <a:xfrm>
            <a:off x="7680960" y="1325880"/>
            <a:ext cx="640080" cy="640080"/>
          </a:xfrm>
          <a:prstGeom prst="ellipse">
            <a:avLst/>
          </a:prstGeom>
          <a:solidFill>
            <a:srgbClr val="22C55E"/>
          </a:solidFill>
          <a:ln/>
        </p:spPr>
      </p:sp>
      <p:sp>
        <p:nvSpPr>
          <p:cNvPr id="31" name="Text 26"/>
          <p:cNvSpPr/>
          <p:nvPr/>
        </p:nvSpPr>
        <p:spPr>
          <a:xfrm>
            <a:off x="7680960" y="13258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200" dirty="0"/>
          </a:p>
        </p:txBody>
      </p:sp>
      <p:sp>
        <p:nvSpPr>
          <p:cNvPr id="32" name="Text 27"/>
          <p:cNvSpPr/>
          <p:nvPr/>
        </p:nvSpPr>
        <p:spPr>
          <a:xfrm>
            <a:off x="7132320" y="210312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&amp;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7132320" y="265176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</a:t>
            </a:r>
            <a:endParaRPr lang="en-US" sz="1000" dirty="0"/>
          </a:p>
        </p:txBody>
      </p:sp>
      <p:sp>
        <p:nvSpPr>
          <p:cNvPr id="34" name="Text 29"/>
          <p:cNvSpPr/>
          <p:nvPr/>
        </p:nvSpPr>
        <p:spPr>
          <a:xfrm>
            <a:off x="7178040" y="301752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deployment, external integrations, live monitoring dashboards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457200" y="4434840"/>
            <a:ext cx="8229600" cy="54864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6" name="Text 31"/>
          <p:cNvSpPr/>
          <p:nvPr/>
        </p:nvSpPr>
        <p:spPr>
          <a:xfrm>
            <a:off x="640080" y="443484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Testing: Unit (80% coverage)  •  Integration (full event chain)  •  Load (300% surge)  •  UAT (85% completion &lt; 2min)  •  Security (TLS 1.3, Ley 1581)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Ethics &amp; Privacy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with Ley 1581 de 2012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234440"/>
            <a:ext cx="4023360" cy="105156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234440"/>
            <a:ext cx="54864" cy="105156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37160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Informed Consent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3152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consent at registration, specific to the safety purpose of the platform.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846320" y="1234440"/>
            <a:ext cx="4023360" cy="105156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846320" y="1234440"/>
            <a:ext cx="54864" cy="1051560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37160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 Limitation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029200" y="173736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may not be repurposed or transferred to third parties beyond security scope.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548640" y="2468880"/>
            <a:ext cx="4023360" cy="105156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548640" y="2468880"/>
            <a:ext cx="54864" cy="1051560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60604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143000" y="2560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Rights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731520" y="2971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Access, correct, and delete personal data at any time via self-service interface.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4846320" y="2468880"/>
            <a:ext cx="4023360" cy="105156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846320" y="2468880"/>
            <a:ext cx="54864" cy="1051560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606040"/>
            <a:ext cx="320040" cy="32004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440680" y="2560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Retention Policy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5029200" y="29718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12 months for incident records before deletion or irreversible anonymization.</a:t>
            </a:r>
            <a:endParaRPr lang="en-US" sz="900" dirty="0"/>
          </a:p>
        </p:txBody>
      </p:sp>
      <p:sp>
        <p:nvSpPr>
          <p:cNvPr id="25" name="Shape 19"/>
          <p:cNvSpPr/>
          <p:nvPr/>
        </p:nvSpPr>
        <p:spPr>
          <a:xfrm>
            <a:off x="548640" y="3703320"/>
            <a:ext cx="4023360" cy="105156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548640" y="3703320"/>
            <a:ext cx="54864" cy="1051560"/>
          </a:xfrm>
          <a:prstGeom prst="rect">
            <a:avLst/>
          </a:prstGeom>
          <a:solidFill>
            <a:srgbClr val="22C55E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84048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143000" y="3794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Anonymous Reporting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731520" y="4206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 reporter identity for sensitive incidents (harassment, threats). Access-controlled.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4846320" y="3703320"/>
            <a:ext cx="4023360" cy="105156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4846320" y="3703320"/>
            <a:ext cx="54864" cy="1051560"/>
          </a:xfrm>
          <a:prstGeom prst="rect">
            <a:avLst/>
          </a:prstGeom>
          <a:solidFill>
            <a:srgbClr val="00B4D8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0" y="3840480"/>
            <a:ext cx="320040" cy="32004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440680" y="37947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of Access</a:t>
            </a:r>
            <a:endParaRPr lang="en-US" sz="1200" dirty="0"/>
          </a:p>
        </p:txBody>
      </p:sp>
      <p:sp>
        <p:nvSpPr>
          <p:cNvPr id="34" name="Text 26"/>
          <p:cNvSpPr/>
          <p:nvPr/>
        </p:nvSpPr>
        <p:spPr>
          <a:xfrm>
            <a:off x="5029200" y="42062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gateway ensures users without smartphones can receive alerts and submit reports.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8046720" cy="82296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54864" cy="8229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05156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Foundation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13258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independent methods converged on the same three problems — under-reporting, night-time concentration, and the absence of a centralized tool — providing robust evidence for design decisions.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8046720" cy="82296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2011680"/>
            <a:ext cx="54864" cy="82296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05740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Traceability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23317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architectural decision is traceable to a specific Workshop No. 1 finding. The design is driven by data, not assumptions.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8046720" cy="82296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017520"/>
            <a:ext cx="54864" cy="8229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06324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Addresses Gaps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77240" y="333756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Low-friction mobile interface targets under-reporting. Zone-weighted, time-weighted dispatch addresses spatial/temporal concentration. Microservices enable independent scaling.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8046720" cy="82296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4023360"/>
            <a:ext cx="54864" cy="822960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069080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Analysis Matters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4343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important lesson: systems analysis is not a formality — it is the foundation on which the entire design depends. KPIs, verification calibration, and the adoption threshold all came from data.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274320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Future Work &amp; Open Assumptions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Unvalidated Assumptions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4023360" cy="41148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8132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14173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willingness to report under real operating conditions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48640" y="1920240"/>
            <a:ext cx="4023360" cy="41148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984248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192024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latency within the 45-second budget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548640" y="2423160"/>
            <a:ext cx="4023360" cy="41148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8716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05840" y="242316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mobile connectivity across all campus zones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4846320" y="1005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4846320" y="1417320"/>
            <a:ext cx="3749040" cy="41148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481328"/>
            <a:ext cx="274320" cy="27432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303520" y="141732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survey to n ≥ 200 (stratified by faculty)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4846320" y="1920240"/>
            <a:ext cx="3749040" cy="41148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0" y="1984248"/>
            <a:ext cx="274320" cy="27432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303520" y="192024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campus WiFi/4G coverage audit</a:t>
            </a:r>
            <a:endParaRPr lang="en-US" sz="1000" dirty="0"/>
          </a:p>
        </p:txBody>
      </p:sp>
      <p:sp>
        <p:nvSpPr>
          <p:cNvPr id="21" name="Shape 14"/>
          <p:cNvSpPr/>
          <p:nvPr/>
        </p:nvSpPr>
        <p:spPr>
          <a:xfrm>
            <a:off x="4846320" y="2423160"/>
            <a:ext cx="3749040" cy="41148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2487168"/>
            <a:ext cx="274320" cy="27432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303520" y="24231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data processing agreement with SIURE UD</a:t>
            </a:r>
            <a:endParaRPr lang="en-US" sz="1000" dirty="0"/>
          </a:p>
        </p:txBody>
      </p:sp>
      <p:sp>
        <p:nvSpPr>
          <p:cNvPr id="24" name="Shape 16"/>
          <p:cNvSpPr/>
          <p:nvPr/>
        </p:nvSpPr>
        <p:spPr>
          <a:xfrm>
            <a:off x="4846320" y="2926080"/>
            <a:ext cx="3749040" cy="41148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7760" y="2990088"/>
            <a:ext cx="274320" cy="27432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5303520" y="29260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Institutional endorsement for 60% adoption target</a:t>
            </a:r>
            <a:endParaRPr lang="en-US" sz="1000" dirty="0"/>
          </a:p>
        </p:txBody>
      </p:sp>
      <p:sp>
        <p:nvSpPr>
          <p:cNvPr id="27" name="Text 18"/>
          <p:cNvSpPr/>
          <p:nvPr/>
        </p:nvSpPr>
        <p:spPr>
          <a:xfrm>
            <a:off x="548640" y="3474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Guiding Design Principles</a:t>
            </a:r>
            <a:endParaRPr lang="en-US" sz="1400" dirty="0"/>
          </a:p>
        </p:txBody>
      </p:sp>
      <p:sp>
        <p:nvSpPr>
          <p:cNvPr id="28" name="Shape 19"/>
          <p:cNvSpPr/>
          <p:nvPr/>
        </p:nvSpPr>
        <p:spPr>
          <a:xfrm>
            <a:off x="548640" y="3931920"/>
            <a:ext cx="1508760" cy="96012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29" name="Shape 20"/>
          <p:cNvSpPr/>
          <p:nvPr/>
        </p:nvSpPr>
        <p:spPr>
          <a:xfrm>
            <a:off x="548640" y="3931920"/>
            <a:ext cx="150876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0" name="Text 21"/>
          <p:cNvSpPr/>
          <p:nvPr/>
        </p:nvSpPr>
        <p:spPr>
          <a:xfrm>
            <a:off x="594360" y="406908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Modularity</a:t>
            </a:r>
            <a:endParaRPr lang="en-US" sz="1200" dirty="0"/>
          </a:p>
        </p:txBody>
      </p:sp>
      <p:sp>
        <p:nvSpPr>
          <p:cNvPr id="31" name="Shape 22"/>
          <p:cNvSpPr/>
          <p:nvPr/>
        </p:nvSpPr>
        <p:spPr>
          <a:xfrm>
            <a:off x="2240280" y="3931920"/>
            <a:ext cx="1508760" cy="96012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2" name="Shape 23"/>
          <p:cNvSpPr/>
          <p:nvPr/>
        </p:nvSpPr>
        <p:spPr>
          <a:xfrm>
            <a:off x="2240280" y="3931920"/>
            <a:ext cx="15087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24"/>
          <p:cNvSpPr/>
          <p:nvPr/>
        </p:nvSpPr>
        <p:spPr>
          <a:xfrm>
            <a:off x="2286000" y="406908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</a:t>
            </a:r>
            <a:endParaRPr lang="en-US" sz="1200" dirty="0"/>
          </a:p>
        </p:txBody>
      </p:sp>
      <p:sp>
        <p:nvSpPr>
          <p:cNvPr id="34" name="Shape 25"/>
          <p:cNvSpPr/>
          <p:nvPr/>
        </p:nvSpPr>
        <p:spPr>
          <a:xfrm>
            <a:off x="3931920" y="3931920"/>
            <a:ext cx="1508760" cy="96012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5" name="Shape 26"/>
          <p:cNvSpPr/>
          <p:nvPr/>
        </p:nvSpPr>
        <p:spPr>
          <a:xfrm>
            <a:off x="3931920" y="3931920"/>
            <a:ext cx="150876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27"/>
          <p:cNvSpPr/>
          <p:nvPr/>
        </p:nvSpPr>
        <p:spPr>
          <a:xfrm>
            <a:off x="3977640" y="406908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Maintainability</a:t>
            </a:r>
            <a:endParaRPr lang="en-US" sz="1200" dirty="0"/>
          </a:p>
        </p:txBody>
      </p:sp>
      <p:sp>
        <p:nvSpPr>
          <p:cNvPr id="37" name="Shape 28"/>
          <p:cNvSpPr/>
          <p:nvPr/>
        </p:nvSpPr>
        <p:spPr>
          <a:xfrm>
            <a:off x="5623560" y="3931920"/>
            <a:ext cx="1508760" cy="96012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38" name="Shape 29"/>
          <p:cNvSpPr/>
          <p:nvPr/>
        </p:nvSpPr>
        <p:spPr>
          <a:xfrm>
            <a:off x="5623560" y="3931920"/>
            <a:ext cx="1508760" cy="54864"/>
          </a:xfrm>
          <a:prstGeom prst="rect">
            <a:avLst/>
          </a:prstGeom>
          <a:solidFill>
            <a:srgbClr val="22C55E"/>
          </a:solidFill>
          <a:ln/>
        </p:spPr>
      </p:sp>
      <p:sp>
        <p:nvSpPr>
          <p:cNvPr id="39" name="Text 30"/>
          <p:cNvSpPr/>
          <p:nvPr/>
        </p:nvSpPr>
        <p:spPr>
          <a:xfrm>
            <a:off x="5669280" y="406908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200" dirty="0"/>
          </a:p>
        </p:txBody>
      </p:sp>
      <p:sp>
        <p:nvSpPr>
          <p:cNvPr id="40" name="Shape 31"/>
          <p:cNvSpPr/>
          <p:nvPr/>
        </p:nvSpPr>
        <p:spPr>
          <a:xfrm>
            <a:off x="7315200" y="3931920"/>
            <a:ext cx="1508760" cy="960120"/>
          </a:xfrm>
          <a:prstGeom prst="rect">
            <a:avLst/>
          </a:prstGeom>
          <a:solidFill>
            <a:srgbClr val="162240"/>
          </a:solidFill>
          <a:ln/>
          <a:effectLst>
            <a:outerShdw sx="100000" sy="100000" kx="0" ky="0" algn="bl" rotWithShape="0" blurRad="101600" dist="38100" dir="8100000">
              <a:srgbClr val="000000">
                <a:alpha val="30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7315200" y="3931920"/>
            <a:ext cx="150876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42" name="Text 33"/>
          <p:cNvSpPr/>
          <p:nvPr/>
        </p:nvSpPr>
        <p:spPr>
          <a:xfrm>
            <a:off x="7360920" y="4069080"/>
            <a:ext cx="1417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4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E63946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23317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2286000" y="3017520"/>
            <a:ext cx="4572000" cy="9144"/>
          </a:xfrm>
          <a:prstGeom prst="rect">
            <a:avLst/>
          </a:prstGeom>
          <a:solidFill>
            <a:srgbClr val="00B4D8">
              <a:alpha val="5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32004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Felipe Jose Garzon Herrera  •  Juan Esteban Quintero Gordillo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Henry Samuel Garrido Medina  •  Gabriel Mateo Cusba Marin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Systems Analysis &amp; Design — Semester 2026-I</a:t>
            </a: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Eng. Carlos Andrés Sierra, M.Sc.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0B4D8"/>
                </a:solidFill>
              </a:rPr>
              <a:t>Universidad Distrital Francisco José de Caldas</a:t>
            </a:r>
            <a:endParaRPr lang="en-US" sz="1100" dirty="0"/>
          </a:p>
          <a:p>
            <a:pPr algn="ctr" indent="0" marL="0">
              <a:buNone/>
            </a:pPr>
            <a:endParaRPr lang="en-US" sz="11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</a:rPr>
              <a:t>github.com/filipghs/Systems-Analysis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Community Security Alert System (CSAS) — Final Project</dc:title>
  <dc:subject>PptxGenJS Presentation</dc:subject>
  <dc:creator>CSAS Team</dc:creator>
  <cp:lastModifiedBy>CSAS Team</cp:lastModifiedBy>
  <cp:revision>1</cp:revision>
  <dcterms:created xsi:type="dcterms:W3CDTF">2026-06-01T03:51:34Z</dcterms:created>
  <dcterms:modified xsi:type="dcterms:W3CDTF">2026-06-01T03:51:34Z</dcterms:modified>
</cp:coreProperties>
</file>